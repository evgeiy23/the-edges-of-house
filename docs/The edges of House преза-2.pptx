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Arimo"/>
      <p:regular r:id="rId19"/>
      <p:bold r:id="rId20"/>
      <p:italic r:id="rId21"/>
      <p:boldItalic r:id="rId22"/>
    </p:embeddedFont>
    <p:embeddedFont>
      <p:font typeface="Russo One"/>
      <p:regular r:id="rId23"/>
    </p:embeddedFont>
    <p:embeddedFont>
      <p:font typeface="Jur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lvKr/SzzZ3q2tgLO94Hyb8V+/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italic.fntdata"/><Relationship Id="rId24" Type="http://schemas.openxmlformats.org/officeDocument/2006/relationships/font" Target="fonts/Jura-regular.fntdata"/><Relationship Id="rId23" Type="http://schemas.openxmlformats.org/officeDocument/2006/relationships/font" Target="fonts/RussoOn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Jur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Arimo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2"/>
          <p:cNvSpPr txBox="1"/>
          <p:nvPr>
            <p:ph type="ctrTitle"/>
          </p:nvPr>
        </p:nvSpPr>
        <p:spPr>
          <a:xfrm>
            <a:off x="4477825" y="539500"/>
            <a:ext cx="3952800" cy="29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" type="subTitle"/>
          </p:nvPr>
        </p:nvSpPr>
        <p:spPr>
          <a:xfrm>
            <a:off x="4492329" y="3390146"/>
            <a:ext cx="2440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716475" y="2157750"/>
            <a:ext cx="4302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13"/>
          <p:cNvSpPr txBox="1"/>
          <p:nvPr>
            <p:ph idx="2" type="title"/>
          </p:nvPr>
        </p:nvSpPr>
        <p:spPr>
          <a:xfrm>
            <a:off x="716475" y="1176150"/>
            <a:ext cx="1255200" cy="841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" name="Google Shape;14;p13"/>
          <p:cNvSpPr txBox="1"/>
          <p:nvPr>
            <p:ph idx="1" type="subTitle"/>
          </p:nvPr>
        </p:nvSpPr>
        <p:spPr>
          <a:xfrm>
            <a:off x="716475" y="3075750"/>
            <a:ext cx="30294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BLANK_1_1_1_1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5"/>
          <p:cNvGrpSpPr/>
          <p:nvPr/>
        </p:nvGrpSpPr>
        <p:grpSpPr>
          <a:xfrm>
            <a:off x="341550" y="175525"/>
            <a:ext cx="8620151" cy="4622975"/>
            <a:chOff x="341550" y="175525"/>
            <a:chExt cx="8620151" cy="4622975"/>
          </a:xfrm>
        </p:grpSpPr>
        <p:sp>
          <p:nvSpPr>
            <p:cNvPr id="18" name="Google Shape;18;p15"/>
            <p:cNvSpPr/>
            <p:nvPr/>
          </p:nvSpPr>
          <p:spPr>
            <a:xfrm flipH="1" rot="10800000">
              <a:off x="4098401" y="175525"/>
              <a:ext cx="4863300" cy="1212900"/>
            </a:xfrm>
            <a:prstGeom prst="snip1Rect">
              <a:avLst>
                <a:gd fmla="val 16667" name="adj"/>
              </a:avLst>
            </a:prstGeom>
            <a:solidFill>
              <a:schemeClr val="dk1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5"/>
            <p:cNvSpPr/>
            <p:nvPr/>
          </p:nvSpPr>
          <p:spPr>
            <a:xfrm>
              <a:off x="341550" y="345000"/>
              <a:ext cx="8460900" cy="44535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 1">
  <p:cSld name="BLANK_1_1_1_1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16"/>
          <p:cNvGrpSpPr/>
          <p:nvPr/>
        </p:nvGrpSpPr>
        <p:grpSpPr>
          <a:xfrm>
            <a:off x="341550" y="175525"/>
            <a:ext cx="8620151" cy="4622975"/>
            <a:chOff x="341550" y="175525"/>
            <a:chExt cx="8620151" cy="4622975"/>
          </a:xfrm>
        </p:grpSpPr>
        <p:sp>
          <p:nvSpPr>
            <p:cNvPr id="22" name="Google Shape;22;p16"/>
            <p:cNvSpPr/>
            <p:nvPr/>
          </p:nvSpPr>
          <p:spPr>
            <a:xfrm flipH="1" rot="10800000">
              <a:off x="4098401" y="175525"/>
              <a:ext cx="4863300" cy="1212900"/>
            </a:xfrm>
            <a:prstGeom prst="snip1Rect">
              <a:avLst>
                <a:gd fmla="val 16667" name="adj"/>
              </a:avLst>
            </a:prstGeom>
            <a:solidFill>
              <a:schemeClr val="dk1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6"/>
            <p:cNvSpPr/>
            <p:nvPr/>
          </p:nvSpPr>
          <p:spPr>
            <a:xfrm>
              <a:off x="341550" y="345000"/>
              <a:ext cx="8460900" cy="4453500"/>
            </a:xfrm>
            <a:prstGeom prst="rect">
              <a:avLst/>
            </a:prstGeom>
            <a:solidFill>
              <a:schemeClr val="dk1"/>
            </a:solidFill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b="1" i="0" sz="3400" u="none" cap="none" strike="noStrik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b="1" i="0" sz="3400" u="none" cap="none" strike="noStrik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b="1" i="0" sz="3400" u="none" cap="none" strike="noStrik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b="1" i="0" sz="3400" u="none" cap="none" strike="noStrik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b="1" i="0" sz="3400" u="none" cap="none" strike="noStrik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b="1" i="0" sz="3400" u="none" cap="none" strike="noStrik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b="1" i="0" sz="3400" u="none" cap="none" strike="noStrik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b="1" i="0" sz="3400" u="none" cap="none" strike="noStrik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Russo One"/>
              <a:buNone/>
              <a:defRPr b="1" i="0" sz="3400" u="none" cap="none" strike="noStrike">
                <a:solidFill>
                  <a:schemeClr val="dk2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●"/>
              <a:defRPr b="0" i="0" sz="1400" u="none" cap="none" strike="noStrike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○"/>
              <a:defRPr b="0" i="0" sz="1400" u="none" cap="none" strike="noStrike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■"/>
              <a:defRPr b="0" i="0" sz="1400" u="none" cap="none" strike="noStrike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●"/>
              <a:defRPr b="0" i="0" sz="1400" u="none" cap="none" strike="noStrike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○"/>
              <a:defRPr b="0" i="0" sz="1400" u="none" cap="none" strike="noStrike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■"/>
              <a:defRPr b="0" i="0" sz="1400" u="none" cap="none" strike="noStrike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●"/>
              <a:defRPr b="0" i="0" sz="1400" u="none" cap="none" strike="noStrike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ura"/>
              <a:buChar char="○"/>
              <a:defRPr b="0" i="0" sz="1400" u="none" cap="none" strike="noStrike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Jura"/>
              <a:buChar char="■"/>
              <a:defRPr b="0" i="0" sz="1400" u="none" cap="none" strike="noStrike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UIjc_MZCMd-6IsghKAC2DoXZTBv6ZqXa/view" TargetMode="External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cohorte.co/blog/using-ollama-with-python-step-by-step-gui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zharechkin.e@sch2009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"/>
          <p:cNvPicPr preferRelativeResize="0"/>
          <p:nvPr/>
        </p:nvPicPr>
        <p:blipFill rotWithShape="1">
          <a:blip r:embed="rId3">
            <a:alphaModFix/>
          </a:blip>
          <a:srcRect b="0" l="22247" r="14512" t="0"/>
          <a:stretch/>
        </p:blipFill>
        <p:spPr>
          <a:xfrm>
            <a:off x="354100" y="359275"/>
            <a:ext cx="3734150" cy="4428525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" name="Google Shape;29;p1"/>
          <p:cNvSpPr txBox="1"/>
          <p:nvPr>
            <p:ph type="ctrTitle"/>
          </p:nvPr>
        </p:nvSpPr>
        <p:spPr>
          <a:xfrm>
            <a:off x="4465212" y="355701"/>
            <a:ext cx="3952800" cy="29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-RU"/>
              <a:t>The edges of House</a:t>
            </a:r>
            <a:r>
              <a:rPr lang="ru-RU" sz="6600"/>
              <a:t> </a:t>
            </a:r>
            <a:endParaRPr sz="5200">
              <a:solidFill>
                <a:schemeClr val="accent3"/>
              </a:solidFill>
            </a:endParaRPr>
          </a:p>
        </p:txBody>
      </p:sp>
      <p:sp>
        <p:nvSpPr>
          <p:cNvPr id="30" name="Google Shape;30;p1"/>
          <p:cNvSpPr txBox="1"/>
          <p:nvPr>
            <p:ph idx="1" type="subTitle"/>
          </p:nvPr>
        </p:nvSpPr>
        <p:spPr>
          <a:xfrm>
            <a:off x="4080983" y="2773549"/>
            <a:ext cx="3734150" cy="2212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>
                <a:solidFill>
                  <a:schemeClr val="lt1"/>
                </a:solidFill>
              </a:rPr>
              <a:t>Проект выполнили:</a:t>
            </a:r>
            <a:endParaRPr/>
          </a:p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Харечкин Евгений Васильевич</a:t>
            </a:r>
            <a:endParaRPr/>
          </a:p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Чмиль Андрей Дмитриевич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   </a:t>
            </a:r>
            <a:r>
              <a:rPr lang="ru-RU">
                <a:solidFill>
                  <a:srgbClr val="BF000E"/>
                </a:solidFill>
              </a:rPr>
              <a:t>Яндекс Лицей Группа 3 год 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   </a:t>
            </a:r>
            <a:r>
              <a:rPr lang="ru-RU">
                <a:solidFill>
                  <a:srgbClr val="9272FF"/>
                </a:solidFill>
              </a:rPr>
              <a:t>Руководитель проекта: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  </a:t>
            </a:r>
            <a:r>
              <a:rPr lang="ru-RU">
                <a:solidFill>
                  <a:schemeClr val="lt1"/>
                </a:solidFill>
              </a:rPr>
              <a:t>Преподаватель Детского    технопарка  "Альтаир" РТУ МИРЭА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Борисов Артём Игоревич 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088250" y="2655605"/>
            <a:ext cx="3424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med" w="med" type="diamond"/>
          </a:ln>
        </p:spPr>
      </p:cxnSp>
      <p:pic>
        <p:nvPicPr>
          <p:cNvPr descr="Изображение выглядит как искусство, снимок экрана, мультфильм, Графика&#10;&#10;Содержимое, созданное искусственным интеллектом, может быть неверным." id="32" name="Google Shape;3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833" y="355701"/>
            <a:ext cx="3734150" cy="442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/>
          <p:nvPr>
            <p:ph type="title"/>
          </p:nvPr>
        </p:nvSpPr>
        <p:spPr>
          <a:xfrm>
            <a:off x="2001275" y="249000"/>
            <a:ext cx="50082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>
                <a:solidFill>
                  <a:schemeClr val="lt1"/>
                </a:solidFill>
              </a:rPr>
              <a:t>Проблематика/Актуальность</a:t>
            </a:r>
            <a:endParaRPr/>
          </a:p>
        </p:txBody>
      </p:sp>
      <p:sp>
        <p:nvSpPr>
          <p:cNvPr id="38" name="Google Shape;38;p2"/>
          <p:cNvSpPr txBox="1"/>
          <p:nvPr>
            <p:ph idx="2" type="title"/>
          </p:nvPr>
        </p:nvSpPr>
        <p:spPr>
          <a:xfrm>
            <a:off x="405923" y="411452"/>
            <a:ext cx="1255200" cy="841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01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28124" y="2094875"/>
            <a:ext cx="8248519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Современные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инди-игры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часто либо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перегружены механиками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либо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быстро теряют интерес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из-за однообразного игрового процесса.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Существует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потребность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в компактных, атмосферных проектах с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высокой переигрываемостью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 простым, интуитивным управлением.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Проект </a:t>
            </a:r>
            <a:r>
              <a:rPr b="0" i="1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The Edges of House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 решает эту проблему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 счёт процедурной генерации уровней, вариативного геймплея и фокуса на исследовании.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Игра демонстрирует актуальные подходы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к разработке 2D-игр и может использоваться как учебный и демонстрационный проект.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8476643" y="4813934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4DFCFC"/>
                </a:solidFill>
                <a:latin typeface="Arial"/>
                <a:ea typeface="Arial"/>
                <a:cs typeface="Arial"/>
                <a:sym typeface="Arial"/>
              </a:rPr>
              <a:t>2/10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>
            <p:ph type="title"/>
          </p:nvPr>
        </p:nvSpPr>
        <p:spPr>
          <a:xfrm>
            <a:off x="1981070" y="173299"/>
            <a:ext cx="47022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>
                <a:solidFill>
                  <a:schemeClr val="lt1"/>
                </a:solidFill>
              </a:rPr>
              <a:t>Цели и задачи</a:t>
            </a:r>
            <a:endParaRPr/>
          </a:p>
        </p:txBody>
      </p:sp>
      <p:sp>
        <p:nvSpPr>
          <p:cNvPr id="46" name="Google Shape;46;p3"/>
          <p:cNvSpPr txBox="1"/>
          <p:nvPr>
            <p:ph idx="2" type="title"/>
          </p:nvPr>
        </p:nvSpPr>
        <p:spPr>
          <a:xfrm>
            <a:off x="355350" y="387874"/>
            <a:ext cx="1255200" cy="841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02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355350" y="1746813"/>
            <a:ext cx="810978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 проекта:</a:t>
            </a:r>
            <a:br>
              <a:rPr b="1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Создать компактную </a:t>
            </a:r>
            <a:r>
              <a:rPr b="0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2D-игру в жанре roguelike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 процедурной генерацией уровней, обеспечивающую высокую переигрываемость, атмосферный геймплей и демонстрацию навыков разработки игр.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Задачи проекта: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Реализовать </a:t>
            </a:r>
            <a:r>
              <a:rPr b="0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процедурную генерацию уровней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 комнатами и коридорами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Разработать </a:t>
            </a:r>
            <a:r>
              <a:rPr b="0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систему управления персонажем и боевую механику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Создать систему </a:t>
            </a:r>
            <a:r>
              <a:rPr b="0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предметов, инвентаря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 взаимодействия с окружением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Реализовать </a:t>
            </a:r>
            <a:r>
              <a:rPr b="0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стартовое меню и настройки игры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8476643" y="4813934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4DFCFC"/>
                </a:solidFill>
                <a:latin typeface="Arial"/>
                <a:ea typeface="Arial"/>
                <a:cs typeface="Arial"/>
                <a:sym typeface="Arial"/>
              </a:rPr>
              <a:t>3/10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2001270" y="264149"/>
            <a:ext cx="6463862" cy="13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>
                <a:solidFill>
                  <a:schemeClr val="lt1"/>
                </a:solidFill>
              </a:rPr>
              <a:t>Использованные ПО и ресурсы</a:t>
            </a:r>
            <a:endParaRPr/>
          </a:p>
        </p:txBody>
      </p:sp>
      <p:sp>
        <p:nvSpPr>
          <p:cNvPr id="54" name="Google Shape;54;p4"/>
          <p:cNvSpPr txBox="1"/>
          <p:nvPr>
            <p:ph idx="2" type="title"/>
          </p:nvPr>
        </p:nvSpPr>
        <p:spPr>
          <a:xfrm>
            <a:off x="355350" y="387874"/>
            <a:ext cx="1255200" cy="841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03</a:t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55350" y="2037086"/>
            <a:ext cx="7636816" cy="2462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72FF"/>
              </a:buClr>
              <a:buSzPts val="1400"/>
              <a:buFont typeface="Arial"/>
              <a:buChar char="•"/>
            </a:pPr>
            <a:r>
              <a:rPr b="1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Python 3.10+</a:t>
            </a:r>
            <a:r>
              <a:rPr b="0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— основной язык программирования проекта.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Библиотека </a:t>
            </a:r>
            <a:r>
              <a:rPr b="1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Arcade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— для отрисовки графики, работы с окнами, спрайтами и обработкой ввода.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72FF"/>
              </a:buClr>
              <a:buSzPts val="1400"/>
              <a:buFont typeface="Arial"/>
              <a:buChar char="•"/>
            </a:pPr>
            <a:r>
              <a:rPr b="1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Стандартные библиотеки </a:t>
            </a:r>
            <a:r>
              <a:rPr b="1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(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random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math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os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— для </a:t>
            </a:r>
            <a:r>
              <a:rPr b="0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генерации уровней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математических расчётов и работы с файлами.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ИИ </a:t>
            </a:r>
            <a:r>
              <a:rPr b="1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— использовался исключительно </a:t>
            </a:r>
            <a:r>
              <a:rPr b="0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для создания изображения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для главного меню игры.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72FF"/>
              </a:buClr>
              <a:buSzPts val="1400"/>
              <a:buFont typeface="Arial"/>
              <a:buChar char="•"/>
            </a:pPr>
            <a:r>
              <a:rPr b="0" i="0" lang="ru-RU" sz="1400" u="none" cap="none" strike="noStrike">
                <a:solidFill>
                  <a:srgbClr val="9272FF"/>
                </a:solidFill>
                <a:latin typeface="Arial"/>
                <a:ea typeface="Arial"/>
                <a:cs typeface="Arial"/>
                <a:sym typeface="Arial"/>
              </a:rPr>
              <a:t>Собственные ресурсы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— спрайты, музыка и звуковые эффекты, созданные или адаптированные для проекта.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8476643" y="4813934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4DFCFC"/>
                </a:solidFill>
                <a:latin typeface="Arial"/>
                <a:ea typeface="Arial"/>
                <a:cs typeface="Arial"/>
                <a:sym typeface="Arial"/>
              </a:rPr>
              <a:t>4/10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>
            <p:ph type="title"/>
          </p:nvPr>
        </p:nvSpPr>
        <p:spPr>
          <a:xfrm>
            <a:off x="2001270" y="264149"/>
            <a:ext cx="6463862" cy="13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>
                <a:solidFill>
                  <a:schemeClr val="lt1"/>
                </a:solidFill>
              </a:rPr>
              <a:t>Методика выполнение работы</a:t>
            </a:r>
            <a:endParaRPr/>
          </a:p>
        </p:txBody>
      </p:sp>
      <p:sp>
        <p:nvSpPr>
          <p:cNvPr id="62" name="Google Shape;62;p5"/>
          <p:cNvSpPr txBox="1"/>
          <p:nvPr>
            <p:ph idx="2" type="title"/>
          </p:nvPr>
        </p:nvSpPr>
        <p:spPr>
          <a:xfrm>
            <a:off x="355350" y="387874"/>
            <a:ext cx="1255200" cy="841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04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82881" y="2114342"/>
            <a:ext cx="836203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Проект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разрабатывался поэтапно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 постепенным усложнением и тестированием каждой части.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Сначала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создавалась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базовая архитектура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игры: окно, управление персонажем и отображение графики.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Далее реализовывались ключевые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игровые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механики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— движение, взаимодействие с предметами, инвентарь и боевые действия.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После этого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была внедрена процедурная генерация уровней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 комнатами и коридорами, чтобы обеспечить вариативность прохождения. Параллельно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создавались меню, настройки и система звуковых эффектов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На финальном этапе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интегрировались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визуальные ресурсы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и проводилось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тестирование всей игры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для исправления багов и оптимизации производительности.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8476643" y="4813934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4DFCFC"/>
                </a:solidFill>
                <a:latin typeface="Arial"/>
                <a:ea typeface="Arial"/>
                <a:cs typeface="Arial"/>
                <a:sym typeface="Arial"/>
              </a:rPr>
              <a:t>5/10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>
            <p:ph type="title"/>
          </p:nvPr>
        </p:nvSpPr>
        <p:spPr>
          <a:xfrm>
            <a:off x="2001270" y="264149"/>
            <a:ext cx="6463862" cy="13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>
                <a:solidFill>
                  <a:schemeClr val="lt1"/>
                </a:solidFill>
              </a:rPr>
              <a:t>Результат</a:t>
            </a:r>
            <a:endParaRPr/>
          </a:p>
        </p:txBody>
      </p:sp>
      <p:sp>
        <p:nvSpPr>
          <p:cNvPr id="70" name="Google Shape;70;p6"/>
          <p:cNvSpPr txBox="1"/>
          <p:nvPr>
            <p:ph idx="2" type="title"/>
          </p:nvPr>
        </p:nvSpPr>
        <p:spPr>
          <a:xfrm>
            <a:off x="355350" y="387874"/>
            <a:ext cx="1255200" cy="841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05</a:t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249095" y="1869085"/>
            <a:ext cx="8280049" cy="2246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 ходе работы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был создан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полностью рабочий прототип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2D-игры </a:t>
            </a:r>
            <a:r>
              <a:rPr b="0" i="1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The Edges of House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процедурной генерацией уровней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системой управления персонажем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боевой механикой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интерактивными предметами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Игра обеспечивает уникальный игровой опыт при каждом запуске за счёт вариативных комнат и коридоров, а также позволяет игроку взаимодействовать с окружением через инвентарь и сундуки.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Главное меню оформлено с использованием изображения, созданного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ИИ Gemini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что придаёт проекту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индивидуальность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не нарушает авторские права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Архитектура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проекта реализована так, чтобы </a:t>
            </a:r>
            <a:r>
              <a:rPr b="0" i="0" lang="ru-RU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легко добавлять новые механики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уровни и объекты, что делает игру масштабируемой и удобной для дальнейшей разработки.</a:t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8476643" y="4813934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4DFCFC"/>
                </a:solidFill>
                <a:latin typeface="Arial"/>
                <a:ea typeface="Arial"/>
                <a:cs typeface="Arial"/>
                <a:sym typeface="Arial"/>
              </a:rPr>
              <a:t>6/10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>
            <p:ph type="title"/>
          </p:nvPr>
        </p:nvSpPr>
        <p:spPr>
          <a:xfrm>
            <a:off x="2162799" y="228825"/>
            <a:ext cx="51900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>
                <a:solidFill>
                  <a:schemeClr val="lt1"/>
                </a:solidFill>
              </a:rPr>
              <a:t>Демонстрация проекта</a:t>
            </a:r>
            <a:endParaRPr/>
          </a:p>
        </p:txBody>
      </p:sp>
      <p:sp>
        <p:nvSpPr>
          <p:cNvPr id="78" name="Google Shape;78;p7"/>
          <p:cNvSpPr txBox="1"/>
          <p:nvPr>
            <p:ph idx="2" type="title"/>
          </p:nvPr>
        </p:nvSpPr>
        <p:spPr>
          <a:xfrm>
            <a:off x="298600" y="406800"/>
            <a:ext cx="1804500" cy="898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05.1</a:t>
            </a:r>
            <a:endParaRPr/>
          </a:p>
        </p:txBody>
      </p:sp>
      <p:sp>
        <p:nvSpPr>
          <p:cNvPr id="79" name="Google Shape;79;p7"/>
          <p:cNvSpPr txBox="1"/>
          <p:nvPr/>
        </p:nvSpPr>
        <p:spPr>
          <a:xfrm>
            <a:off x="8476643" y="4813934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4DFCFC"/>
                </a:solidFill>
                <a:latin typeface="Arial"/>
                <a:ea typeface="Arial"/>
                <a:cs typeface="Arial"/>
                <a:sym typeface="Arial"/>
              </a:rPr>
              <a:t>7/10</a:t>
            </a:r>
            <a:endParaRPr/>
          </a:p>
        </p:txBody>
      </p:sp>
      <p:pic>
        <p:nvPicPr>
          <p:cNvPr id="80" name="Google Shape;80;p7" title="The Edges of House (С ЧИТАМИ) 2026-02-02 16-54-46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313" y="1585425"/>
            <a:ext cx="7856966" cy="32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type="title"/>
          </p:nvPr>
        </p:nvSpPr>
        <p:spPr>
          <a:xfrm>
            <a:off x="2012795" y="158149"/>
            <a:ext cx="64638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>
                <a:solidFill>
                  <a:schemeClr val="lt1"/>
                </a:solidFill>
              </a:rPr>
              <a:t>Выводы</a:t>
            </a:r>
            <a:endParaRPr/>
          </a:p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355350" y="387874"/>
            <a:ext cx="1255200" cy="841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06</a:t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223871" y="1743181"/>
            <a:ext cx="869625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Проект </a:t>
            </a:r>
            <a:r>
              <a:rPr b="0" i="1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The Edges of House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 показал эффективность сочетания процедурной генерации и продуманной игровой механики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для создания увлекательного и переигрываемого игрового процесса.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Использование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и библиотеки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Arcade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позволило быстро реализовать прототип с поддержкой спрайтов, взаимодействия с объектами и динамического управления персонажем.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Применение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для создания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визуального оформления главного меню демонстрирует возможности интеграции современных инструментов генерации контента в игровые проекты. Архитектура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игры оказалась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гибкой и масштабируемой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что обеспечивает возможность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дальнейшего расширения функционала и улучшения геймплея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Проект подтверждает актуальность разработки компактных, атмосферных и интерактивных 2D-игр с простым управлением и высокой переигрываемостью.</a:t>
            </a:r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8476643" y="4813934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4DFCFC"/>
                </a:solidFill>
                <a:latin typeface="Arial"/>
                <a:ea typeface="Arial"/>
                <a:cs typeface="Arial"/>
                <a:sym typeface="Arial"/>
              </a:rPr>
              <a:t>8/10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title"/>
          </p:nvPr>
        </p:nvSpPr>
        <p:spPr>
          <a:xfrm>
            <a:off x="2001269" y="312200"/>
            <a:ext cx="7060749" cy="1356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>
                <a:solidFill>
                  <a:schemeClr val="lt1"/>
                </a:solidFill>
              </a:rPr>
              <a:t>Список использованных источников</a:t>
            </a:r>
            <a:endParaRPr/>
          </a:p>
        </p:txBody>
      </p:sp>
      <p:sp>
        <p:nvSpPr>
          <p:cNvPr id="94" name="Google Shape;94;p9"/>
          <p:cNvSpPr txBox="1"/>
          <p:nvPr>
            <p:ph idx="2" type="title"/>
          </p:nvPr>
        </p:nvSpPr>
        <p:spPr>
          <a:xfrm>
            <a:off x="355350" y="387874"/>
            <a:ext cx="1255200" cy="8418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07</a:t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518000" y="2344425"/>
            <a:ext cx="8364000" cy="16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</a:pPr>
            <a:r>
              <a:rPr lang="ru-RU">
                <a:solidFill>
                  <a:schemeClr val="accent4"/>
                </a:solidFill>
              </a:rPr>
              <a:t>1) </a:t>
            </a: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Учебники Яндекс Лицея по промышленному программированию.</a:t>
            </a:r>
            <a:b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2) </a:t>
            </a:r>
            <a:r>
              <a:rPr lang="ru-RU">
                <a:solidFill>
                  <a:schemeClr val="accent4"/>
                </a:solidFill>
              </a:rPr>
              <a:t>Работа с Ollama в Python:</a:t>
            </a:r>
            <a:br>
              <a:rPr lang="ru-RU">
                <a:solidFill>
                  <a:schemeClr val="accent4"/>
                </a:solidFill>
              </a:rPr>
            </a:br>
            <a:r>
              <a:rPr lang="ru-RU">
                <a:solidFill>
                  <a:schemeClr val="accent4"/>
                </a:solidFill>
              </a:rPr>
              <a:t>	a. </a:t>
            </a:r>
            <a:r>
              <a:rPr lang="ru-RU" u="sng">
                <a:solidFill>
                  <a:schemeClr val="hlink"/>
                </a:solidFill>
                <a:hlinkClick r:id="rId3"/>
              </a:rPr>
              <a:t>https://www.cohorte.co/blog/using-ollama-with-python-step-by-step-guide</a:t>
            </a:r>
            <a:endParaRPr>
              <a:solidFill>
                <a:schemeClr val="accent4"/>
              </a:solidFill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</a:pPr>
            <a:r>
              <a:rPr lang="ru-RU">
                <a:solidFill>
                  <a:schemeClr val="accent4"/>
                </a:solidFill>
              </a:rPr>
              <a:t>b. https://dev.to/rosgluk/integrating-ollama-with-python-rest-api-and-python-client-examples-56hk</a:t>
            </a:r>
            <a:endParaRPr>
              <a:solidFill>
                <a:schemeClr val="accent4"/>
              </a:solidFill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8476643" y="4813934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4DFCFC"/>
                </a:solidFill>
                <a:latin typeface="Arial"/>
                <a:ea typeface="Arial"/>
                <a:cs typeface="Arial"/>
                <a:sym typeface="Arial"/>
              </a:rPr>
              <a:t>9/10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>
            <p:ph type="title"/>
          </p:nvPr>
        </p:nvSpPr>
        <p:spPr>
          <a:xfrm>
            <a:off x="3693150" y="1893450"/>
            <a:ext cx="1757700" cy="13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6000">
                <a:solidFill>
                  <a:schemeClr val="lt1"/>
                </a:solidFill>
              </a:rPr>
              <a:t>Q/A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102" name="Google Shape;102;p10"/>
          <p:cNvSpPr txBox="1"/>
          <p:nvPr/>
        </p:nvSpPr>
        <p:spPr>
          <a:xfrm>
            <a:off x="8476643" y="4813934"/>
            <a:ext cx="631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rgbClr val="4DFCFC"/>
                </a:solidFill>
                <a:latin typeface="Arial"/>
                <a:ea typeface="Arial"/>
                <a:cs typeface="Arial"/>
                <a:sym typeface="Arial"/>
              </a:rPr>
              <a:t>10/10</a:t>
            </a:r>
            <a:endParaRPr/>
          </a:p>
        </p:txBody>
      </p:sp>
      <p:sp>
        <p:nvSpPr>
          <p:cNvPr id="103" name="Google Shape;103;p10"/>
          <p:cNvSpPr txBox="1"/>
          <p:nvPr/>
        </p:nvSpPr>
        <p:spPr>
          <a:xfrm>
            <a:off x="205250" y="3440800"/>
            <a:ext cx="255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DFCFC"/>
                </a:solidFill>
              </a:rPr>
              <a:t>Почта:</a:t>
            </a:r>
            <a:endParaRPr sz="1200">
              <a:solidFill>
                <a:srgbClr val="4DFCF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u="sng">
                <a:solidFill>
                  <a:srgbClr val="9272F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zharechkin.e@sch2009.net</a:t>
            </a:r>
            <a:endParaRPr sz="1050">
              <a:solidFill>
                <a:srgbClr val="9272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>
                <a:solidFill>
                  <a:srgbClr val="9272FF"/>
                </a:solidFill>
                <a:latin typeface="Roboto"/>
                <a:ea typeface="Roboto"/>
                <a:cs typeface="Roboto"/>
                <a:sym typeface="Roboto"/>
              </a:rPr>
              <a:t>knopmops@yandex.ru</a:t>
            </a:r>
            <a:endParaRPr sz="1050">
              <a:solidFill>
                <a:srgbClr val="9272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4DFCFC"/>
                </a:solidFill>
              </a:rPr>
              <a:t>Телеграм:</a:t>
            </a:r>
            <a:endParaRPr sz="1200">
              <a:solidFill>
                <a:srgbClr val="4DFCF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9272FF"/>
                </a:solidFill>
              </a:rPr>
              <a:t>@nbrfvenpnppveer56478398r76f</a:t>
            </a:r>
            <a:endParaRPr sz="1150">
              <a:solidFill>
                <a:srgbClr val="9272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>
                <a:solidFill>
                  <a:srgbClr val="9272FF"/>
                </a:solidFill>
              </a:rPr>
              <a:t>@knopmops</a:t>
            </a:r>
            <a:endParaRPr sz="1150">
              <a:solidFill>
                <a:srgbClr val="9272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Jura"/>
              <a:ea typeface="Jura"/>
              <a:cs typeface="Jura"/>
              <a:sym typeface="Ju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ing Design Portfolio by Slidesgo">
  <a:themeElements>
    <a:clrScheme name="Simple Light">
      <a:dk1>
        <a:srgbClr val="020202"/>
      </a:dk1>
      <a:lt1>
        <a:srgbClr val="FFFFFF"/>
      </a:lt1>
      <a:dk2>
        <a:srgbClr val="FF5E68"/>
      </a:dk2>
      <a:lt2>
        <a:srgbClr val="FF0013"/>
      </a:lt2>
      <a:accent1>
        <a:srgbClr val="FF0B0B"/>
      </a:accent1>
      <a:accent2>
        <a:srgbClr val="82FFFE"/>
      </a:accent2>
      <a:accent3>
        <a:srgbClr val="B29CFF"/>
      </a:accent3>
      <a:accent4>
        <a:srgbClr val="B29CFF"/>
      </a:accent4>
      <a:accent5>
        <a:srgbClr val="04CFCF"/>
      </a:accent5>
      <a:accent6>
        <a:srgbClr val="82FFF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